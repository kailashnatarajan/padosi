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109f42a-2fa7-559c-eecd-b54f7d708c86}">
          <p14:sldIdLst>
            <p14:sldId id="256"/>
          </p14:sldIdLst>
        </p14:section>
        <p14:section name="Problem &amp; Solution" id="{1604a67a-e12e-c1f1-59b6-52a1f939935b}">
          <p14:sldIdLst>
            <p14:sldId id="257"/>
            <p14:sldId id="258"/>
          </p14:sldIdLst>
        </p14:section>
        <p14:section name="Build" id="{b18580a1-e858-f978-7228-eeda65e3cd72}">
          <p14:sldIdLst>
            <p14:sldId id="259"/>
            <p14:sldId id="260"/>
          </p14:sldIdLst>
        </p14:section>
        <p14:section name="Proof" id="{29f06d1e-5484-04e2-d1c5-fca206a05d4b}">
          <p14:sldIdLst>
            <p14:sldId id="261"/>
          </p14:sldIdLst>
        </p14:section>
        <p14:section name="Viability &amp; Vision" id="{da3ce876-41bd-996d-8463-af9421aab4ee}">
          <p14:sldIdLst>
            <p14:sldId id="262"/>
            <p14:sldId id="263"/>
          </p14:sldIdLst>
        </p14:section>
        <p14:section name="Close" id="{fd483934-e6c0-4ddd-f6df-b5233b0ef9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In a flood or cyclone the towers fail first. Padosi (Hindi/Tamil-neighbour) turns the phones around you into the network.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problem in a real, local event. 30% of 42,747 towers down on 5 Dec 2023 (TN Chief Secretary). The deeper gap: even when a message gets out, nobody can triage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Mesh messengers already exist; our edge is the on-device triage layer and the daily-use community features. iQOO fit: phone-first, on-device AI, sensors and radios, plus Office Kit for the laptop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scope: one loop that works in airplane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inside the dashed box runs on the handset. Only the relay step uses short-range radios, so the loop works in airplane-style, no-tower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loop: speak, triage card, relay, responder taps On my way. The screens are illustrative mockups; the linked prototype shows the same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safety loop has no backend, so cost to serve is near zero. Revenue comes from the community module and institutional pilots, not from people in an emergency.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targets we will measure on test devices, not results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idea: when the towers go down, your neighbours become the network.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25880"/>
            <a:ext cx="6675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iQOO HACKATHON  ·  GRAND FINALE  ·  TRACK 08: COMMUNITY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2588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Padosi</a:t>
            </a:r>
            <a:endParaRPr lang="en-US" sz="88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971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bg2"/>
                </a:solidFill>
              </a:rPr>
              <a:t>When the towers go down, your neighbours become the network.</a:t>
            </a:r>
            <a:endParaRPr lang="en-US" sz="2400" dirty="0"/>
          </a:p>
        </p:txBody>
      </p:sp>
      <p:sp>
        <p:nvSpPr>
          <p:cNvPr id="5" name="Team card"/>
          <p:cNvSpPr/>
          <p:nvPr/>
        </p:nvSpPr>
        <p:spPr>
          <a:xfrm>
            <a:off x="640080" y="4251960"/>
            <a:ext cx="640080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Semicolon Survivors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120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Kailash N  ·  Team Leader &amp; Lead Developer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Jayakrishna M  ·  On-device AI &amp; Backend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Pavithrraraj R  ·  UI/UX &amp; Demo</a:t>
            </a:r>
            <a:endParaRPr lang="en-US" sz="1400" dirty="0"/>
          </a:p>
        </p:txBody>
      </p:sp>
      <p:sp>
        <p:nvSpPr>
          <p:cNvPr id="9" name="Ring 1"/>
          <p:cNvSpPr/>
          <p:nvPr/>
        </p:nvSpPr>
        <p:spPr>
          <a:xfrm>
            <a:off x="6766560" y="868680"/>
            <a:ext cx="5120640" cy="5120640"/>
          </a:xfrm>
          <a:prstGeom prst="ellipse">
            <a:avLst/>
          </a:prstGeom>
          <a:noFill/>
          <a:ln w="15875">
            <a:solidFill>
              <a:schemeClr val="accent5"/>
            </a:solidFill>
            <a:prstDash val="dash"/>
          </a:ln>
        </p:spPr>
      </p:sp>
      <p:sp>
        <p:nvSpPr>
          <p:cNvPr id="10" name="Ring 2"/>
          <p:cNvSpPr/>
          <p:nvPr/>
        </p:nvSpPr>
        <p:spPr>
          <a:xfrm>
            <a:off x="7589520" y="1691640"/>
            <a:ext cx="3474720" cy="3474720"/>
          </a:xfrm>
          <a:prstGeom prst="ellips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1" name="Ring 3"/>
          <p:cNvSpPr/>
          <p:nvPr/>
        </p:nvSpPr>
        <p:spPr>
          <a:xfrm>
            <a:off x="8412480" y="2514600"/>
            <a:ext cx="1828800" cy="1828800"/>
          </a:xfrm>
          <a:prstGeom prst="ellips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2" name="IconBg"/>
          <p:cNvSpPr/>
          <p:nvPr/>
        </p:nvSpPr>
        <p:spPr>
          <a:xfrm>
            <a:off x="11288150" y="189280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Mobile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6166" y="2020824"/>
            <a:ext cx="256032" cy="256032"/>
          </a:xfrm>
          <a:prstGeom prst="rect">
            <a:avLst/>
          </a:prstGeom>
        </p:spPr>
      </p:pic>
      <p:sp>
        <p:nvSpPr>
          <p:cNvPr id="14" name="IconBg"/>
          <p:cNvSpPr/>
          <p:nvPr/>
        </p:nvSpPr>
        <p:spPr>
          <a:xfrm>
            <a:off x="11032167" y="481871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Mobi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83" y="4946726"/>
            <a:ext cx="256032" cy="256032"/>
          </a:xfrm>
          <a:prstGeom prst="rect">
            <a:avLst/>
          </a:prstGeom>
        </p:spPr>
      </p:pic>
      <p:sp>
        <p:nvSpPr>
          <p:cNvPr id="16" name="IconBg"/>
          <p:cNvSpPr/>
          <p:nvPr/>
        </p:nvSpPr>
        <p:spPr>
          <a:xfrm>
            <a:off x="7714085" y="5344243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Mobil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101" y="5472259"/>
            <a:ext cx="256032" cy="256032"/>
          </a:xfrm>
          <a:prstGeom prst="rect">
            <a:avLst/>
          </a:prstGeom>
        </p:spPr>
      </p:pic>
      <p:sp>
        <p:nvSpPr>
          <p:cNvPr id="18" name="IconBg"/>
          <p:cNvSpPr/>
          <p:nvPr/>
        </p:nvSpPr>
        <p:spPr>
          <a:xfrm>
            <a:off x="6973557" y="1704429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3" descr="Mobile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573" y="1832445"/>
            <a:ext cx="256032" cy="256032"/>
          </a:xfrm>
          <a:prstGeom prst="rect">
            <a:avLst/>
          </a:prstGeom>
        </p:spPr>
      </p:pic>
      <p:sp>
        <p:nvSpPr>
          <p:cNvPr id="20" name="IconBg"/>
          <p:cNvSpPr/>
          <p:nvPr/>
        </p:nvSpPr>
        <p:spPr>
          <a:xfrm>
            <a:off x="8769159" y="488393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Mobile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75" y="5011950"/>
            <a:ext cx="256032" cy="256032"/>
          </a:xfrm>
          <a:prstGeom prst="rect">
            <a:avLst/>
          </a:prstGeom>
        </p:spPr>
      </p:pic>
      <p:sp>
        <p:nvSpPr>
          <p:cNvPr id="22" name="IconBg"/>
          <p:cNvSpPr/>
          <p:nvPr/>
        </p:nvSpPr>
        <p:spPr>
          <a:xfrm>
            <a:off x="7438264" y="257875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5" descr="MobileA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280" y="2706772"/>
            <a:ext cx="256032" cy="256032"/>
          </a:xfrm>
          <a:prstGeom prst="rect">
            <a:avLst/>
          </a:prstGeom>
        </p:spPr>
      </p:pic>
      <p:sp>
        <p:nvSpPr>
          <p:cNvPr id="24" name="IconBg"/>
          <p:cNvSpPr/>
          <p:nvPr/>
        </p:nvSpPr>
        <p:spPr>
          <a:xfrm>
            <a:off x="9939528" y="166837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6" descr="MobileAl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1796386"/>
            <a:ext cx="256032" cy="256032"/>
          </a:xfrm>
          <a:prstGeom prst="rect">
            <a:avLst/>
          </a:prstGeom>
        </p:spPr>
      </p:pic>
      <p:sp>
        <p:nvSpPr>
          <p:cNvPr id="26" name="IconBg"/>
          <p:cNvSpPr/>
          <p:nvPr/>
        </p:nvSpPr>
        <p:spPr>
          <a:xfrm>
            <a:off x="8869680" y="2971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7" descr="User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3200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02  · 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When towers fall, voices vanish</a:t>
            </a:r>
            <a:endParaRPr lang="en-US" sz="3400" dirty="0"/>
          </a:p>
        </p:txBody>
      </p:sp>
      <p:sp>
        <p:nvSpPr>
          <p:cNvPr id="4" name="Stat card"/>
          <p:cNvSpPr/>
          <p:nvPr/>
        </p:nvSpPr>
        <p:spPr>
          <a:xfrm>
            <a:off x="548640" y="1600200"/>
            <a:ext cx="4114800" cy="452628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Chennai's 42,747 mobile towers were still offline on 5 Dec 2023, a day after Cyclone Michaung's peak, mostly due to lack of power.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532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Source: Tamil Nadu Chief Secretary, via PTI, 5 Dec 2023</a:t>
            </a:r>
            <a:endParaRPr lang="en-US" sz="1100" dirty="0"/>
          </a:p>
        </p:txBody>
      </p:sp>
      <p:sp>
        <p:nvSpPr>
          <p:cNvPr id="8" name="Row card 1"/>
          <p:cNvSpPr/>
          <p:nvPr/>
        </p:nvSpPr>
        <p:spPr>
          <a:xfrm>
            <a:off x="4937760" y="1600200"/>
            <a:ext cx="67025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IconBg"/>
          <p:cNvSpPr/>
          <p:nvPr/>
        </p:nvSpPr>
        <p:spPr>
          <a:xfrm>
            <a:off x="5166360" y="201168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0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0" y="2160270"/>
            <a:ext cx="297180" cy="2971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89320" y="17282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gap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07568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Calls and data fail exactly when help is needed. The few messages that get through are chaotic: mixed languages, duplicates, no sense of urgency, so responders can't tell what matters first.</a:t>
            </a:r>
            <a:endParaRPr lang="en-US" sz="1400" dirty="0"/>
          </a:p>
        </p:txBody>
      </p:sp>
      <p:sp>
        <p:nvSpPr>
          <p:cNvPr id="13" name="Row card 2"/>
          <p:cNvSpPr/>
          <p:nvPr/>
        </p:nvSpPr>
        <p:spPr>
          <a:xfrm>
            <a:off x="4937760" y="3154680"/>
            <a:ext cx="67025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IconBg"/>
          <p:cNvSpPr/>
          <p:nvPr/>
        </p:nvSpPr>
        <p:spPr>
          <a:xfrm>
            <a:off x="5166360" y="356616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1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371475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89320" y="32826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faces it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36301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Residents of flood- and cyclone-prone neighbourhoods, apartment societies, volunteer groups and local responders, especially elders and non-English speakers.</a:t>
            </a:r>
            <a:endParaRPr lang="en-US" sz="1400" dirty="0"/>
          </a:p>
        </p:txBody>
      </p:sp>
      <p:sp>
        <p:nvSpPr>
          <p:cNvPr id="18" name="Row card 3"/>
          <p:cNvSpPr/>
          <p:nvPr/>
        </p:nvSpPr>
        <p:spPr>
          <a:xfrm>
            <a:off x="4937760" y="4709160"/>
            <a:ext cx="67025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IconBg"/>
          <p:cNvSpPr/>
          <p:nvPr/>
        </p:nvSpPr>
        <p:spPr>
          <a:xfrm>
            <a:off x="5166360" y="5120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2" descr="CommentDo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526923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89320" y="48371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is worth solving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989320" y="518464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During Michaung, residents struggled for signal (one student went up to her terrace to find any) while operators cited power and diesel problems at tower sites (Business Standard).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03  · 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Padosi: an offline safety net in every pocket</a:t>
            </a:r>
            <a:endParaRPr lang="en-US" sz="3400" dirty="0"/>
          </a:p>
        </p:txBody>
      </p:sp>
      <p:sp>
        <p:nvSpPr>
          <p:cNvPr id="4" name="Value prop card"/>
          <p:cNvSpPr/>
          <p:nvPr/>
        </p:nvSpPr>
        <p:spPr>
          <a:xfrm>
            <a:off x="548640" y="1600200"/>
            <a:ext cx="512064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VALUE PROPOSITION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Padosi turns the phones people already own into an offline neighbourhood safety net.</a:t>
            </a:r>
            <a:endParaRPr lang="en-US" sz="2600" dirty="0"/>
          </a:p>
        </p:txBody>
      </p:sp>
      <p:sp>
        <p:nvSpPr>
          <p:cNvPr id="7" name="Step chip 1"/>
          <p:cNvSpPr/>
          <p:nvPr/>
        </p:nvSpPr>
        <p:spPr>
          <a:xfrm>
            <a:off x="868680" y="4572000"/>
            <a:ext cx="10058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Speak</a:t>
            </a:r>
            <a:endParaRPr lang="en-US" sz="1400" dirty="0"/>
          </a:p>
        </p:txBody>
      </p:sp>
      <p:sp>
        <p:nvSpPr>
          <p:cNvPr id="9" name="Step chip 2"/>
          <p:cNvSpPr/>
          <p:nvPr/>
        </p:nvSpPr>
        <p:spPr>
          <a:xfrm>
            <a:off x="2011680" y="4572000"/>
            <a:ext cx="10058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1168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Triage</a:t>
            </a:r>
            <a:endParaRPr lang="en-US" sz="1400" dirty="0"/>
          </a:p>
        </p:txBody>
      </p:sp>
      <p:sp>
        <p:nvSpPr>
          <p:cNvPr id="11" name="Step chip 3"/>
          <p:cNvSpPr/>
          <p:nvPr/>
        </p:nvSpPr>
        <p:spPr>
          <a:xfrm>
            <a:off x="3154680" y="4572000"/>
            <a:ext cx="10058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Relay</a:t>
            </a:r>
            <a:endParaRPr lang="en-US" sz="1400" dirty="0"/>
          </a:p>
        </p:txBody>
      </p:sp>
      <p:sp>
        <p:nvSpPr>
          <p:cNvPr id="13" name="Step chip 4"/>
          <p:cNvSpPr/>
          <p:nvPr/>
        </p:nvSpPr>
        <p:spPr>
          <a:xfrm>
            <a:off x="4297680" y="4572000"/>
            <a:ext cx="10058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No internet. No cloud. No servers.</a:t>
            </a:r>
            <a:endParaRPr lang="en-US" sz="1400" dirty="0"/>
          </a:p>
        </p:txBody>
      </p:sp>
      <p:sp>
        <p:nvSpPr>
          <p:cNvPr id="16" name="Info card 1"/>
          <p:cNvSpPr/>
          <p:nvPr/>
        </p:nvSpPr>
        <p:spPr>
          <a:xfrm>
            <a:off x="5943600" y="1600200"/>
            <a:ext cx="56967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7" name="IconBg"/>
          <p:cNvSpPr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0" descr="Br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930" y="1908810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81228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it is different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24231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 messengers forward raw text; Padosi adds on-device AI triage (need, urgency, location, headcount)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Understands Tamil, Hindi, English or a mix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Doubles as a daily community app, so it is installed before disaster strikes</a:t>
            </a:r>
            <a:endParaRPr lang="en-US" sz="1400" dirty="0"/>
          </a:p>
        </p:txBody>
      </p:sp>
      <p:sp>
        <p:nvSpPr>
          <p:cNvPr id="21" name="Info card 2"/>
          <p:cNvSpPr/>
          <p:nvPr/>
        </p:nvSpPr>
        <p:spPr>
          <a:xfrm>
            <a:off x="5943600" y="3931920"/>
            <a:ext cx="56967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IconBg"/>
          <p:cNvSpPr/>
          <p:nvPr/>
        </p:nvSpPr>
        <p:spPr>
          <a:xfrm>
            <a:off x="6172200" y="41148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1" descr="Mobi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4240530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1228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iQOO alignment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47548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Phone-first, AI at the core: speech and triage run fully on the handset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mic, GPS, Bluetooth and Wi-Fi Direct; Office Kit extends to a responder laptop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Privacy by design: no cloud, only alerts you send travel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04  ·  CORE FEATURES &amp; TECHNOLOGY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features, one on-device stack</a:t>
            </a:r>
            <a:endParaRPr lang="en-US" sz="34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600200"/>
            <a:ext cx="58521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IconBg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Microph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282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Speak in your language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07568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a button and describe the emergency in Tamil, Hindi, English or a mix. Speech-to-text runs on the phone.</a:t>
            </a:r>
            <a:endParaRPr lang="en-US" sz="1400" dirty="0"/>
          </a:p>
        </p:txBody>
      </p:sp>
      <p:sp>
        <p:nvSpPr>
          <p:cNvPr id="9" name="Feature card 2"/>
          <p:cNvSpPr/>
          <p:nvPr/>
        </p:nvSpPr>
        <p:spPr>
          <a:xfrm>
            <a:off x="548640" y="3154680"/>
            <a:ext cx="58521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IconBg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7147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282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triage card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6301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small local model turns the words into a structured card: need type, urgency, GPS location and headcount.</a:t>
            </a:r>
            <a:endParaRPr lang="en-US" sz="1400" dirty="0"/>
          </a:p>
        </p:txBody>
      </p:sp>
      <p:sp>
        <p:nvSpPr>
          <p:cNvPr id="14" name="Feature card 3"/>
          <p:cNvSpPr/>
          <p:nvPr/>
        </p:nvSpPr>
        <p:spPr>
          <a:xfrm>
            <a:off x="548640" y="4709160"/>
            <a:ext cx="58521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IconBg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Shar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2692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837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 neighbour relay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5184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Nearby phones pass the alert hop by hop over Bluetooth and Wi-Fi Direct. Responders tap "On my way".</a:t>
            </a:r>
            <a:endParaRPr lang="en-US" sz="1400" dirty="0"/>
          </a:p>
        </p:txBody>
      </p:sp>
      <p:sp>
        <p:nvSpPr>
          <p:cNvPr id="19" name="Tech card 1"/>
          <p:cNvSpPr/>
          <p:nvPr/>
        </p:nvSpPr>
        <p:spPr>
          <a:xfrm>
            <a:off x="6675120" y="1600200"/>
            <a:ext cx="24048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SPEECH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21488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Whisper (whisper.cpp)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Tamil · Hindi · English</a:t>
            </a:r>
            <a:endParaRPr lang="en-US" sz="1400" dirty="0"/>
          </a:p>
        </p:txBody>
      </p:sp>
      <p:sp>
        <p:nvSpPr>
          <p:cNvPr id="22" name="Tech card 2"/>
          <p:cNvSpPr/>
          <p:nvPr/>
        </p:nvSpPr>
        <p:spPr>
          <a:xfrm>
            <a:off x="9235440" y="1600200"/>
            <a:ext cx="24048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41832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TRIAGE AI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9418320" y="21488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Gemma / Llama 3.2 (small, quantised)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Structured JSON output</a:t>
            </a:r>
            <a:endParaRPr lang="en-US" sz="1400" dirty="0"/>
          </a:p>
        </p:txBody>
      </p:sp>
      <p:sp>
        <p:nvSpPr>
          <p:cNvPr id="25" name="Tech card 3"/>
          <p:cNvSpPr/>
          <p:nvPr/>
        </p:nvSpPr>
        <p:spPr>
          <a:xfrm>
            <a:off x="6675120" y="3886200"/>
            <a:ext cx="24048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85800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RELAY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0" y="44348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Android Nearby Connections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Bluetooth + Wi-Fi Direct</a:t>
            </a:r>
            <a:endParaRPr lang="en-US" sz="1400" dirty="0"/>
          </a:p>
        </p:txBody>
      </p:sp>
      <p:sp>
        <p:nvSpPr>
          <p:cNvPr id="28" name="Tech card 4"/>
          <p:cNvSpPr/>
          <p:nvPr/>
        </p:nvSpPr>
        <p:spPr>
          <a:xfrm>
            <a:off x="9235440" y="3886200"/>
            <a:ext cx="24048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41832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 &amp; DASHBOARD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418320" y="44348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Kotlin + Jetpack Compose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Room (SQLite), Fused Location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Laptop view via Office Kit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675120" y="6172200"/>
            <a:ext cx="4965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Stack shown is the planned build; final model choices depend on on-device testing.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05  ·  ARCHITECTURE &amp; WORKFLOW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voice to responder, all offline</a:t>
            </a:r>
            <a:endParaRPr lang="en-US" sz="3400" dirty="0"/>
          </a:p>
        </p:txBody>
      </p:sp>
      <p:sp>
        <p:nvSpPr>
          <p:cNvPr id="4" name="On-device zone"/>
          <p:cNvSpPr/>
          <p:nvPr/>
        </p:nvSpPr>
        <p:spPr>
          <a:xfrm>
            <a:off x="457200" y="1554480"/>
            <a:ext cx="74980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ON-DEVICE  ·  NO INTERNET  ·  NO CLOUD</a:t>
            </a:r>
            <a:endParaRPr lang="en-US" sz="1100" dirty="0"/>
          </a:p>
        </p:txBody>
      </p:sp>
      <p:sp>
        <p:nvSpPr>
          <p:cNvPr id="6" name="Block 1"/>
          <p:cNvSpPr/>
          <p:nvPr/>
        </p:nvSpPr>
        <p:spPr>
          <a:xfrm>
            <a:off x="548640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7" name="IconBg"/>
          <p:cNvSpPr/>
          <p:nvPr/>
        </p:nvSpPr>
        <p:spPr>
          <a:xfrm>
            <a:off x="1092708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Microph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2768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1792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Voice 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Mic, any language</a:t>
            </a:r>
            <a:endParaRPr lang="en-US" sz="1200" dirty="0"/>
          </a:p>
        </p:txBody>
      </p:sp>
      <p:sp>
        <p:nvSpPr>
          <p:cNvPr id="11" name="Arrow 1"/>
          <p:cNvSpPr/>
          <p:nvPr/>
        </p:nvSpPr>
        <p:spPr>
          <a:xfrm>
            <a:off x="2185416" y="2743200"/>
            <a:ext cx="219456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Block 2"/>
          <p:cNvSpPr/>
          <p:nvPr/>
        </p:nvSpPr>
        <p:spPr>
          <a:xfrm>
            <a:off x="2441448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13" name="IconBg"/>
          <p:cNvSpPr/>
          <p:nvPr/>
        </p:nvSpPr>
        <p:spPr>
          <a:xfrm>
            <a:off x="2985516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Langua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32" y="22768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14600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Speech-to-text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514600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Whisper</a:t>
            </a:r>
            <a:endParaRPr lang="en-US" sz="1200" dirty="0"/>
          </a:p>
        </p:txBody>
      </p:sp>
      <p:sp>
        <p:nvSpPr>
          <p:cNvPr id="17" name="Arrow 2"/>
          <p:cNvSpPr/>
          <p:nvPr/>
        </p:nvSpPr>
        <p:spPr>
          <a:xfrm>
            <a:off x="4078224" y="2743200"/>
            <a:ext cx="219456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Block 3"/>
          <p:cNvSpPr/>
          <p:nvPr/>
        </p:nvSpPr>
        <p:spPr>
          <a:xfrm>
            <a:off x="4334256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19" name="IconBg"/>
          <p:cNvSpPr/>
          <p:nvPr/>
        </p:nvSpPr>
        <p:spPr>
          <a:xfrm>
            <a:off x="4878324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Bra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2768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407408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triage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407408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Local small LLM</a:t>
            </a:r>
            <a:endParaRPr lang="en-US" sz="1200" dirty="0"/>
          </a:p>
        </p:txBody>
      </p:sp>
      <p:sp>
        <p:nvSpPr>
          <p:cNvPr id="23" name="Arrow 3"/>
          <p:cNvSpPr/>
          <p:nvPr/>
        </p:nvSpPr>
        <p:spPr>
          <a:xfrm>
            <a:off x="5971032" y="2743200"/>
            <a:ext cx="219456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4" name="Block 4"/>
          <p:cNvSpPr/>
          <p:nvPr/>
        </p:nvSpPr>
        <p:spPr>
          <a:xfrm>
            <a:off x="6227064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25" name="IconBg"/>
          <p:cNvSpPr/>
          <p:nvPr/>
        </p:nvSpPr>
        <p:spPr>
          <a:xfrm>
            <a:off x="6771132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48" y="22768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300216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Alert card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300216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Stored on phone</a:t>
            </a:r>
            <a:endParaRPr lang="en-US" sz="1200" dirty="0"/>
          </a:p>
        </p:txBody>
      </p:sp>
      <p:sp>
        <p:nvSpPr>
          <p:cNvPr id="29" name="Arrow 4"/>
          <p:cNvSpPr/>
          <p:nvPr/>
        </p:nvSpPr>
        <p:spPr>
          <a:xfrm>
            <a:off x="7863840" y="2743200"/>
            <a:ext cx="219456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0" name="Block 5"/>
          <p:cNvSpPr/>
          <p:nvPr/>
        </p:nvSpPr>
        <p:spPr>
          <a:xfrm>
            <a:off x="8119872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31" name="IconBg"/>
          <p:cNvSpPr/>
          <p:nvPr/>
        </p:nvSpPr>
        <p:spPr>
          <a:xfrm>
            <a:off x="8663940" y="214884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Share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956" y="2276856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93024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Mesh relay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193024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Bluetooth, Wi-Fi Direct</a:t>
            </a:r>
            <a:endParaRPr lang="en-US" sz="1200" dirty="0"/>
          </a:p>
        </p:txBody>
      </p:sp>
      <p:sp>
        <p:nvSpPr>
          <p:cNvPr id="35" name="Arrow 5"/>
          <p:cNvSpPr/>
          <p:nvPr/>
        </p:nvSpPr>
        <p:spPr>
          <a:xfrm>
            <a:off x="9756648" y="2743200"/>
            <a:ext cx="219456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Block 6"/>
          <p:cNvSpPr/>
          <p:nvPr/>
        </p:nvSpPr>
        <p:spPr>
          <a:xfrm>
            <a:off x="10012680" y="2011680"/>
            <a:ext cx="1600200" cy="169164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37" name="IconBg"/>
          <p:cNvSpPr/>
          <p:nvPr/>
        </p:nvSpPr>
        <p:spPr>
          <a:xfrm>
            <a:off x="10556748" y="214884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HandsHelpi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4764" y="2276856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85832" y="2761488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Responder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0085832" y="31089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Phone or laptop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User journey</a:t>
            </a:r>
            <a:endParaRPr lang="en-US" sz="2000" dirty="0"/>
          </a:p>
        </p:txBody>
      </p:sp>
      <p:sp>
        <p:nvSpPr>
          <p:cNvPr id="42" name="Journey step 1"/>
          <p:cNvSpPr/>
          <p:nvPr/>
        </p:nvSpPr>
        <p:spPr>
          <a:xfrm>
            <a:off x="548640" y="470916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3" name="Step number bg"/>
          <p:cNvSpPr/>
          <p:nvPr/>
        </p:nvSpPr>
        <p:spPr>
          <a:xfrm>
            <a:off x="731520" y="48646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73152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731520" y="5413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Padosi with no signal</a:t>
            </a:r>
            <a:endParaRPr lang="en-US" sz="1400" dirty="0"/>
          </a:p>
        </p:txBody>
      </p:sp>
      <p:sp>
        <p:nvSpPr>
          <p:cNvPr id="46" name="Journey step 2"/>
          <p:cNvSpPr/>
          <p:nvPr/>
        </p:nvSpPr>
        <p:spPr>
          <a:xfrm>
            <a:off x="2788920" y="470916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7" name="Step number bg"/>
          <p:cNvSpPr/>
          <p:nvPr/>
        </p:nvSpPr>
        <p:spPr>
          <a:xfrm>
            <a:off x="2971800" y="48646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297180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49" name="Text 41"/>
          <p:cNvSpPr txBox="1"/>
          <p:nvPr/>
        </p:nvSpPr>
        <p:spPr>
          <a:xfrm>
            <a:off x="2971800" y="5413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Speak the request</a:t>
            </a:r>
            <a:endParaRPr lang="en-US" sz="1400" dirty="0"/>
          </a:p>
        </p:txBody>
      </p:sp>
      <p:sp>
        <p:nvSpPr>
          <p:cNvPr id="50" name="Journey step 3"/>
          <p:cNvSpPr/>
          <p:nvPr/>
        </p:nvSpPr>
        <p:spPr>
          <a:xfrm>
            <a:off x="5029200" y="470916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1" name="Step number bg"/>
          <p:cNvSpPr/>
          <p:nvPr/>
        </p:nvSpPr>
        <p:spPr>
          <a:xfrm>
            <a:off x="5212080" y="48646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52120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53" name="Text 45"/>
          <p:cNvSpPr txBox="1"/>
          <p:nvPr/>
        </p:nvSpPr>
        <p:spPr>
          <a:xfrm>
            <a:off x="5212080" y="5413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triage card and send</a:t>
            </a:r>
            <a:endParaRPr lang="en-US" sz="1400" dirty="0"/>
          </a:p>
        </p:txBody>
      </p:sp>
      <p:sp>
        <p:nvSpPr>
          <p:cNvPr id="54" name="Journey step 4"/>
          <p:cNvSpPr/>
          <p:nvPr/>
        </p:nvSpPr>
        <p:spPr>
          <a:xfrm>
            <a:off x="7269480" y="470916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5" name="Step number bg"/>
          <p:cNvSpPr/>
          <p:nvPr/>
        </p:nvSpPr>
        <p:spPr>
          <a:xfrm>
            <a:off x="7452360" y="48646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745236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7452360" y="5413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Nearby phones relay the alert</a:t>
            </a:r>
            <a:endParaRPr lang="en-US" sz="1400" dirty="0"/>
          </a:p>
        </p:txBody>
      </p:sp>
      <p:sp>
        <p:nvSpPr>
          <p:cNvPr id="58" name="Journey step 5"/>
          <p:cNvSpPr/>
          <p:nvPr/>
        </p:nvSpPr>
        <p:spPr>
          <a:xfrm>
            <a:off x="9509760" y="470916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9" name="Step number bg"/>
          <p:cNvSpPr/>
          <p:nvPr/>
        </p:nvSpPr>
        <p:spPr>
          <a:xfrm>
            <a:off x="9692640" y="48646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0" name="Text 52"/>
          <p:cNvSpPr txBox="1"/>
          <p:nvPr/>
        </p:nvSpPr>
        <p:spPr>
          <a:xfrm>
            <a:off x="969264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61" name="Text 53"/>
          <p:cNvSpPr txBox="1"/>
          <p:nvPr/>
        </p:nvSpPr>
        <p:spPr>
          <a:xfrm>
            <a:off x="9692640" y="5413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Responder taps "On my way"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06  ·  INTERACTIVE PROTOTYPE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loop: speak, triage, relay, respond</a:t>
            </a:r>
            <a:endParaRPr lang="en-US" sz="3400" dirty="0"/>
          </a:p>
        </p:txBody>
      </p:sp>
      <p:sp>
        <p:nvSpPr>
          <p:cNvPr id="4" name="Phone frame 1"/>
          <p:cNvSpPr/>
          <p:nvPr/>
        </p:nvSpPr>
        <p:spPr>
          <a:xfrm>
            <a:off x="640080" y="1554480"/>
            <a:ext cx="2560320" cy="4663440"/>
          </a:xfrm>
          <a:prstGeom prst="roundRect">
            <a:avLst>
              <a:gd name="adj" fmla="val 10714"/>
            </a:avLst>
          </a:prstGeom>
          <a:solidFill>
            <a:schemeClr val="tx1"/>
          </a:solidFill>
          <a:ln/>
        </p:spPr>
      </p:sp>
      <p:sp>
        <p:nvSpPr>
          <p:cNvPr id="5" name="Phone screen 1"/>
          <p:cNvSpPr/>
          <p:nvPr/>
        </p:nvSpPr>
        <p:spPr>
          <a:xfrm>
            <a:off x="749808" y="1691640"/>
            <a:ext cx="2340864" cy="4389120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/>
        </p:spPr>
      </p:sp>
      <p:sp>
        <p:nvSpPr>
          <p:cNvPr id="6" name="Phone frame 2"/>
          <p:cNvSpPr/>
          <p:nvPr/>
        </p:nvSpPr>
        <p:spPr>
          <a:xfrm>
            <a:off x="3520440" y="1554480"/>
            <a:ext cx="2560320" cy="4663440"/>
          </a:xfrm>
          <a:prstGeom prst="roundRect">
            <a:avLst>
              <a:gd name="adj" fmla="val 10714"/>
            </a:avLst>
          </a:prstGeom>
          <a:solidFill>
            <a:schemeClr val="tx1"/>
          </a:solidFill>
          <a:ln/>
        </p:spPr>
      </p:sp>
      <p:sp>
        <p:nvSpPr>
          <p:cNvPr id="7" name="Phone screen 2"/>
          <p:cNvSpPr/>
          <p:nvPr/>
        </p:nvSpPr>
        <p:spPr>
          <a:xfrm>
            <a:off x="3630168" y="1691640"/>
            <a:ext cx="2340864" cy="4389120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OFFLINE · AIRPLANE MODE</a:t>
            </a:r>
            <a:endParaRPr lang="en-US" sz="1000" dirty="0"/>
          </a:p>
        </p:txBody>
      </p:sp>
      <p:sp>
        <p:nvSpPr>
          <p:cNvPr id="9" name="IconBg"/>
          <p:cNvSpPr/>
          <p:nvPr/>
        </p:nvSpPr>
        <p:spPr>
          <a:xfrm>
            <a:off x="1691640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Microph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23545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"Appa ku chest pain, ambulance venum"</a:t>
            </a:r>
            <a:endParaRPr lang="en-US" sz="1200" dirty="0"/>
          </a:p>
        </p:txBody>
      </p:sp>
      <p:sp>
        <p:nvSpPr>
          <p:cNvPr id="12" name="Triage card"/>
          <p:cNvSpPr/>
          <p:nvPr/>
        </p:nvSpPr>
        <p:spPr>
          <a:xfrm>
            <a:off x="914400" y="3520440"/>
            <a:ext cx="2011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3" name="Chip medical"/>
          <p:cNvSpPr/>
          <p:nvPr/>
        </p:nvSpPr>
        <p:spPr>
          <a:xfrm>
            <a:off x="1024128" y="3630168"/>
            <a:ext cx="868680" cy="256032"/>
          </a:xfrm>
          <a:prstGeom prst="roundRect">
            <a:avLst>
              <a:gd name="adj" fmla="val 42857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24128" y="3630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MEDICAL</a:t>
            </a:r>
            <a:endParaRPr lang="en-US" sz="1000" dirty="0"/>
          </a:p>
        </p:txBody>
      </p:sp>
      <p:sp>
        <p:nvSpPr>
          <p:cNvPr id="15" name="Chip urgent"/>
          <p:cNvSpPr/>
          <p:nvPr/>
        </p:nvSpPr>
        <p:spPr>
          <a:xfrm>
            <a:off x="1965960" y="3630168"/>
            <a:ext cx="850392" cy="256032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65960" y="36301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URGENT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Chest pain, 1 person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GPS location attached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Relaying to nearby phones</a:t>
            </a:r>
            <a:endParaRPr lang="en-US" sz="1200" dirty="0"/>
          </a:p>
        </p:txBody>
      </p:sp>
      <p:sp>
        <p:nvSpPr>
          <p:cNvPr id="18" name="Send button"/>
          <p:cNvSpPr/>
          <p:nvPr/>
        </p:nvSpPr>
        <p:spPr>
          <a:xfrm>
            <a:off x="1024128" y="4892040"/>
            <a:ext cx="1792224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" y="48920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Send alert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RESPONDER QUEUE</a:t>
            </a:r>
            <a:endParaRPr lang="en-US" sz="1000" dirty="0"/>
          </a:p>
        </p:txBody>
      </p:sp>
      <p:sp>
        <p:nvSpPr>
          <p:cNvPr id="21" name="Queue item 1"/>
          <p:cNvSpPr/>
          <p:nvPr/>
        </p:nvSpPr>
        <p:spPr>
          <a:xfrm>
            <a:off x="3794760" y="2194560"/>
            <a:ext cx="2011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Priority dot"/>
          <p:cNvSpPr/>
          <p:nvPr/>
        </p:nvSpPr>
        <p:spPr>
          <a:xfrm>
            <a:off x="3904488" y="233172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142232" y="22860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MEDICAL · URGENT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904488" y="2578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Chest pain, 1 person</a:t>
            </a:r>
            <a:endParaRPr lang="en-US" sz="1200" dirty="0"/>
          </a:p>
        </p:txBody>
      </p:sp>
      <p:sp>
        <p:nvSpPr>
          <p:cNvPr id="25" name="On my way button"/>
          <p:cNvSpPr/>
          <p:nvPr/>
        </p:nvSpPr>
        <p:spPr>
          <a:xfrm>
            <a:off x="3904488" y="3063240"/>
            <a:ext cx="1792224" cy="347472"/>
          </a:xfrm>
          <a:prstGeom prst="roundRect">
            <a:avLst>
              <a:gd name="adj" fmla="val 31579"/>
            </a:avLst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04488" y="306324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On my way</a:t>
            </a:r>
            <a:endParaRPr lang="en-US" sz="1200" dirty="0"/>
          </a:p>
        </p:txBody>
      </p:sp>
      <p:sp>
        <p:nvSpPr>
          <p:cNvPr id="27" name="Queue item 2"/>
          <p:cNvSpPr/>
          <p:nvPr/>
        </p:nvSpPr>
        <p:spPr>
          <a:xfrm>
            <a:off x="3794760" y="3703320"/>
            <a:ext cx="2011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8" name="Priority dot"/>
          <p:cNvSpPr/>
          <p:nvPr/>
        </p:nvSpPr>
        <p:spPr>
          <a:xfrm>
            <a:off x="3904488" y="384048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142232" y="37947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RESCUE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904488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Water rising, 3 people</a:t>
            </a:r>
            <a:endParaRPr lang="en-US" sz="1200" dirty="0"/>
          </a:p>
        </p:txBody>
      </p:sp>
      <p:sp>
        <p:nvSpPr>
          <p:cNvPr id="31" name="Queue item 3"/>
          <p:cNvSpPr/>
          <p:nvPr/>
        </p:nvSpPr>
        <p:spPr>
          <a:xfrm>
            <a:off x="3794760" y="4663440"/>
            <a:ext cx="2011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2" name="Priority dot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42232" y="4754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FOOD &amp; WATER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904488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Needs supplies, 4 people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the demo shows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20574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spoken, mixed-language request becomes a prioritised triage card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alert reaches a second phone with no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responder sees a sorted queue and taps "On my way"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Everything runs in airplane mode</a:t>
            </a:r>
            <a:endParaRPr lang="en-US" sz="1400" dirty="0"/>
          </a:p>
        </p:txBody>
      </p:sp>
      <p:sp>
        <p:nvSpPr>
          <p:cNvPr id="37" name="Links card"/>
          <p:cNvSpPr/>
          <p:nvPr/>
        </p:nvSpPr>
        <p:spPr>
          <a:xfrm>
            <a:off x="6675120" y="4251960"/>
            <a:ext cx="4965192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38" name="QR placeholder"/>
          <p:cNvSpPr/>
          <p:nvPr/>
        </p:nvSpPr>
        <p:spPr>
          <a:xfrm>
            <a:off x="6903720" y="448056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903720" y="44805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Prototype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549640" y="45720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Try the interactive prototype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 the Prototype URL from our submission to run the full speak, triage, relay, respond loop.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2910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Phone screens are illustrative UI mockups of the planned app. The linked prototype demonstrates the same flow.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07  ·  BUSINESS MODEL &amp; FEASIBILITY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Free for citizens, built to scale cheaply</a:t>
            </a:r>
            <a:endParaRPr lang="en-US" sz="3400" dirty="0"/>
          </a:p>
        </p:txBody>
      </p:sp>
      <p:sp>
        <p:nvSpPr>
          <p:cNvPr id="4" name="Tier card 1"/>
          <p:cNvSpPr/>
          <p:nvPr/>
        </p:nvSpPr>
        <p:spPr>
          <a:xfrm>
            <a:off x="548640" y="1600200"/>
            <a:ext cx="6035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IconBg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28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Citizens: free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free, so adoption never depends on a purchase.</a:t>
            </a:r>
            <a:endParaRPr lang="en-US" sz="1400" dirty="0"/>
          </a:p>
        </p:txBody>
      </p:sp>
      <p:sp>
        <p:nvSpPr>
          <p:cNvPr id="9" name="Tier card 2"/>
          <p:cNvSpPr/>
          <p:nvPr/>
        </p:nvSpPr>
        <p:spPr>
          <a:xfrm>
            <a:off x="548640" y="3154680"/>
            <a:ext cx="6035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IconBg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Hom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7147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2826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Housing societies: subscription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Community module: notices, helper directory, drill mode.</a:t>
            </a:r>
            <a:endParaRPr lang="en-US" sz="1400" dirty="0"/>
          </a:p>
        </p:txBody>
      </p:sp>
      <p:sp>
        <p:nvSpPr>
          <p:cNvPr id="14" name="Tier card 3"/>
          <p:cNvSpPr/>
          <p:nvPr/>
        </p:nvSpPr>
        <p:spPr>
          <a:xfrm>
            <a:off x="548640" y="4709160"/>
            <a:ext cx="6035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IconBg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Universit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2692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837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Governments and NGOs: pilots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5212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Licences, grants and CSR funding for disaster-prone districts.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 factor</a:t>
            </a:r>
            <a:endParaRPr lang="en-US" sz="2000" dirty="0"/>
          </a:p>
        </p:txBody>
      </p:sp>
      <p:sp>
        <p:nvSpPr>
          <p:cNvPr id="20" name="Stat card 1"/>
          <p:cNvSpPr/>
          <p:nvPr/>
        </p:nvSpPr>
        <p:spPr>
          <a:xfrm>
            <a:off x="6949440" y="210312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223760" y="21031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9326880" y="21031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cloud cost per alert</a:t>
            </a:r>
            <a:endParaRPr lang="en-US" sz="1400" dirty="0"/>
          </a:p>
        </p:txBody>
      </p:sp>
      <p:sp>
        <p:nvSpPr>
          <p:cNvPr id="23" name="Stat card 2"/>
          <p:cNvSpPr/>
          <p:nvPr/>
        </p:nvSpPr>
        <p:spPr>
          <a:xfrm>
            <a:off x="6949440" y="347472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223760" y="34747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bytes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9326880" y="3474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sent to any cloud or server</a:t>
            </a:r>
            <a:endParaRPr lang="en-US" sz="1400" dirty="0"/>
          </a:p>
        </p:txBody>
      </p:sp>
      <p:sp>
        <p:nvSpPr>
          <p:cNvPr id="26" name="Stat card 3"/>
          <p:cNvSpPr/>
          <p:nvPr/>
        </p:nvSpPr>
        <p:spPr>
          <a:xfrm>
            <a:off x="6949440" y="484632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223760" y="48463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bars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9326880" y="4846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signal needed to send help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08  ·  ROADMAP &amp; IMPACT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Padosi goes next, and how we measure it</a:t>
            </a:r>
            <a:endParaRPr lang="en-US" sz="3400" dirty="0"/>
          </a:p>
        </p:txBody>
      </p:sp>
      <p:sp>
        <p:nvSpPr>
          <p:cNvPr id="4" name="Phase card 1"/>
          <p:cNvSpPr/>
          <p:nvPr/>
        </p:nvSpPr>
        <p:spPr>
          <a:xfrm>
            <a:off x="548640" y="160020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5" name="IconBg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Roc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9088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Finale MVP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 to triage card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Relay to a second phone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Responder "On my way"</a:t>
            </a:r>
            <a:endParaRPr lang="en-US" sz="1400" dirty="0"/>
          </a:p>
        </p:txBody>
      </p:sp>
      <p:sp>
        <p:nvSpPr>
          <p:cNvPr id="9" name="Phase card 2"/>
          <p:cNvSpPr/>
          <p:nvPr/>
        </p:nvSpPr>
        <p:spPr>
          <a:xfrm>
            <a:off x="4297680" y="160020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0" name="IconBg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Seedl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19088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Next 3 months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Multi-hop mesh relay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Society notices, helper directory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Laptop dashboard via Office Kit</a:t>
            </a:r>
            <a:endParaRPr lang="en-US" sz="1400" dirty="0"/>
          </a:p>
        </p:txBody>
      </p:sp>
      <p:sp>
        <p:nvSpPr>
          <p:cNvPr id="14" name="Phase card 3"/>
          <p:cNvSpPr/>
          <p:nvPr/>
        </p:nvSpPr>
        <p:spPr>
          <a:xfrm>
            <a:off x="8046720" y="160020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5" name="IconBg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Cit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19088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 to 12 months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514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Pilots with societies and NGOs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Indian languages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Voice-only mode for elders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 success metrics</a:t>
            </a:r>
            <a:endParaRPr lang="en-US" sz="1800" dirty="0"/>
          </a:p>
        </p:txBody>
      </p:sp>
      <p:sp>
        <p:nvSpPr>
          <p:cNvPr id="20" name="Metric tile 1"/>
          <p:cNvSpPr/>
          <p:nvPr/>
        </p:nvSpPr>
        <p:spPr>
          <a:xfrm>
            <a:off x="548640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77240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s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voice to triage card</a:t>
            </a:r>
            <a:endParaRPr lang="en-US" sz="1400" dirty="0"/>
          </a:p>
        </p:txBody>
      </p:sp>
      <p:sp>
        <p:nvSpPr>
          <p:cNvPr id="23" name="Metric tile 2"/>
          <p:cNvSpPr/>
          <p:nvPr/>
        </p:nvSpPr>
        <p:spPr>
          <a:xfrm>
            <a:off x="3374136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602736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3602736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triage accuracy on a test set</a:t>
            </a:r>
            <a:endParaRPr lang="en-US" sz="1400" dirty="0"/>
          </a:p>
        </p:txBody>
      </p:sp>
      <p:sp>
        <p:nvSpPr>
          <p:cNvPr id="26" name="Metric tile 3"/>
          <p:cNvSpPr/>
          <p:nvPr/>
        </p:nvSpPr>
        <p:spPr>
          <a:xfrm>
            <a:off x="6199632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28232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 hops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6428232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relay with no internet</a:t>
            </a:r>
            <a:endParaRPr lang="en-US" sz="1400" dirty="0"/>
          </a:p>
        </p:txBody>
      </p:sp>
      <p:sp>
        <p:nvSpPr>
          <p:cNvPr id="29" name="Metric tile 4"/>
          <p:cNvSpPr/>
          <p:nvPr/>
        </p:nvSpPr>
        <p:spPr>
          <a:xfrm>
            <a:off x="9025128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9253728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31" name="Text 26"/>
          <p:cNvSpPr txBox="1"/>
          <p:nvPr/>
        </p:nvSpPr>
        <p:spPr>
          <a:xfrm>
            <a:off x="9253728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processing on-device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 ·  CONCLUSION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9144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Your neighbours are the network.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Padosi keeps a community connected, informed and safe when everything else goes quiet, using nothing but the phones already in their pockets.</a:t>
            </a:r>
            <a:endParaRPr lang="en-US" sz="1800" dirty="0"/>
          </a:p>
        </p:txBody>
      </p:sp>
      <p:sp>
        <p:nvSpPr>
          <p:cNvPr id="5" name="Contact card"/>
          <p:cNvSpPr/>
          <p:nvPr/>
        </p:nvSpPr>
        <p:spPr>
          <a:xfrm>
            <a:off x="640080" y="4572000"/>
            <a:ext cx="63093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THANK YOU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074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Kailash N, Team Leader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kailashnatarajan27@gmail.com</a:t>
            </a:r>
            <a:endParaRPr lang="en-US" sz="1600" dirty="0"/>
          </a:p>
        </p:txBody>
      </p:sp>
      <p:sp>
        <p:nvSpPr>
          <p:cNvPr id="8" name="Questions circle"/>
          <p:cNvSpPr/>
          <p:nvPr/>
        </p:nvSpPr>
        <p:spPr>
          <a:xfrm>
            <a:off x="7863840" y="1463040"/>
            <a:ext cx="3749040" cy="3749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0" y="146304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dosi Night Signal">
  <a:themeElements>
    <a:clrScheme name="Padosi Night Signal">
      <a:dk1>
        <a:srgbClr val="0B1F2A"/>
      </a:dk1>
      <a:lt1>
        <a:srgbClr val="FFFFFF"/>
      </a:lt1>
      <a:dk2>
        <a:srgbClr val="163A4A"/>
      </a:dk2>
      <a:lt2>
        <a:srgbClr val="EAF2F4"/>
      </a:lt2>
      <a:accent1>
        <a:srgbClr val="F5A623"/>
      </a:accent1>
      <a:accent2>
        <a:srgbClr val="2EC4B6"/>
      </a:accent2>
      <a:accent3>
        <a:srgbClr val="E85D4A"/>
      </a:accent3>
      <a:accent4>
        <a:srgbClr val="5B8DEF"/>
      </a:accent4>
      <a:accent5>
        <a:srgbClr val="7A8B94"/>
      </a:accent5>
      <a:accent6>
        <a:srgbClr val="8BD17C"/>
      </a:accent6>
      <a:hlink>
        <a:srgbClr val="2EC4B6"/>
      </a:hlink>
      <a:folHlink>
        <a:srgbClr val="7A8B94"/>
      </a:folHlink>
    </a:clrScheme>
    <a:fontScheme name="Padosi Night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Padosi: Your Neighbours Are the Network</dc:title>
  <dc:subject>PptxGenJS Presentation</dc:subject>
  <dc:creator>PptxGenJS</dc:creator>
  <cp:lastModifiedBy>PptxGenJS</cp:lastModifiedBy>
  <cp:revision>1</cp:revision>
  <dcterms:created xsi:type="dcterms:W3CDTF">2026-10-05T16:24:30Z</dcterms:created>
  <dcterms:modified xsi:type="dcterms:W3CDTF">2026-10-05T16:24:30Z</dcterms:modified>
</cp:coreProperties>
</file>